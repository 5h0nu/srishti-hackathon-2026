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658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1">
                <a:solidFill>
                  <a:srgbClr val="4A395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>
                <a:solidFill>
                  <a:srgbClr val="1F1A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5F5F5F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1">
                <a:solidFill>
                  <a:srgbClr val="4A395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1">
                <a:solidFill>
                  <a:srgbClr val="1F1A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5F5F5F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1">
                <a:solidFill>
                  <a:srgbClr val="4A395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5F5F5F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1">
                <a:solidFill>
                  <a:srgbClr val="4A395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5F5F5F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5F5F5F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582" y="146071"/>
            <a:ext cx="5075555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1">
                <a:solidFill>
                  <a:srgbClr val="4A395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2676" y="1471513"/>
            <a:ext cx="5436234" cy="197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1">
                <a:solidFill>
                  <a:srgbClr val="1F1A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438464" y="4815870"/>
            <a:ext cx="3959860" cy="156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5F5F5F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5456" y="4652234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72000" y="3387090"/>
            <a:ext cx="1085850" cy="251460"/>
          </a:xfrm>
          <a:custGeom>
            <a:avLst/>
            <a:gdLst/>
            <a:ahLst/>
            <a:cxnLst/>
            <a:rect l="l" t="t" r="r" b="b"/>
            <a:pathLst>
              <a:path w="1085850" h="251460">
                <a:moveTo>
                  <a:pt x="893533" y="0"/>
                </a:moveTo>
                <a:lnTo>
                  <a:pt x="192011" y="0"/>
                </a:lnTo>
                <a:lnTo>
                  <a:pt x="136042" y="558"/>
                </a:lnTo>
                <a:lnTo>
                  <a:pt x="96977" y="3873"/>
                </a:lnTo>
                <a:lnTo>
                  <a:pt x="44615" y="29641"/>
                </a:lnTo>
                <a:lnTo>
                  <a:pt x="16903" y="62903"/>
                </a:lnTo>
                <a:lnTo>
                  <a:pt x="1943" y="103911"/>
                </a:lnTo>
                <a:lnTo>
                  <a:pt x="0" y="125793"/>
                </a:lnTo>
                <a:lnTo>
                  <a:pt x="279" y="136601"/>
                </a:lnTo>
                <a:lnTo>
                  <a:pt x="16903" y="188696"/>
                </a:lnTo>
                <a:lnTo>
                  <a:pt x="44615" y="221945"/>
                </a:lnTo>
                <a:lnTo>
                  <a:pt x="82575" y="243827"/>
                </a:lnTo>
                <a:lnTo>
                  <a:pt x="136042" y="251040"/>
                </a:lnTo>
                <a:lnTo>
                  <a:pt x="161810" y="251307"/>
                </a:lnTo>
                <a:lnTo>
                  <a:pt x="923734" y="251307"/>
                </a:lnTo>
                <a:lnTo>
                  <a:pt x="970559" y="249656"/>
                </a:lnTo>
                <a:lnTo>
                  <a:pt x="1022934" y="234416"/>
                </a:lnTo>
                <a:lnTo>
                  <a:pt x="1056182" y="206705"/>
                </a:lnTo>
                <a:lnTo>
                  <a:pt x="1078064" y="168744"/>
                </a:lnTo>
                <a:lnTo>
                  <a:pt x="1085557" y="125793"/>
                </a:lnTo>
                <a:lnTo>
                  <a:pt x="1084999" y="114706"/>
                </a:lnTo>
                <a:lnTo>
                  <a:pt x="1068654" y="62903"/>
                </a:lnTo>
                <a:lnTo>
                  <a:pt x="1040663" y="29641"/>
                </a:lnTo>
                <a:lnTo>
                  <a:pt x="1002982" y="7759"/>
                </a:lnTo>
                <a:lnTo>
                  <a:pt x="949223" y="558"/>
                </a:lnTo>
                <a:lnTo>
                  <a:pt x="893533" y="0"/>
                </a:lnTo>
                <a:close/>
              </a:path>
            </a:pathLst>
          </a:custGeom>
          <a:solidFill>
            <a:srgbClr val="152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00600" y="3409950"/>
            <a:ext cx="651510" cy="14811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850" dirty="0" smtClean="0">
                <a:solidFill>
                  <a:schemeClr val="bg1"/>
                </a:solidFill>
                <a:latin typeface="Trebuchet MS"/>
                <a:cs typeface="Trebuchet MS"/>
              </a:rPr>
              <a:t>Frontend</a:t>
            </a:r>
            <a:endParaRPr sz="85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15200" y="3370851"/>
            <a:ext cx="1085850" cy="251460"/>
          </a:xfrm>
          <a:custGeom>
            <a:avLst/>
            <a:gdLst/>
            <a:ahLst/>
            <a:cxnLst/>
            <a:rect l="l" t="t" r="r" b="b"/>
            <a:pathLst>
              <a:path w="1085850" h="251460">
                <a:moveTo>
                  <a:pt x="893597" y="0"/>
                </a:moveTo>
                <a:lnTo>
                  <a:pt x="192024" y="0"/>
                </a:lnTo>
                <a:lnTo>
                  <a:pt x="136334" y="558"/>
                </a:lnTo>
                <a:lnTo>
                  <a:pt x="97256" y="3873"/>
                </a:lnTo>
                <a:lnTo>
                  <a:pt x="44894" y="29641"/>
                </a:lnTo>
                <a:lnTo>
                  <a:pt x="16903" y="62903"/>
                </a:lnTo>
                <a:lnTo>
                  <a:pt x="1943" y="103911"/>
                </a:lnTo>
                <a:lnTo>
                  <a:pt x="0" y="125793"/>
                </a:lnTo>
                <a:lnTo>
                  <a:pt x="558" y="136601"/>
                </a:lnTo>
                <a:lnTo>
                  <a:pt x="16903" y="188696"/>
                </a:lnTo>
                <a:lnTo>
                  <a:pt x="44894" y="221945"/>
                </a:lnTo>
                <a:lnTo>
                  <a:pt x="82854" y="243827"/>
                </a:lnTo>
                <a:lnTo>
                  <a:pt x="136334" y="251040"/>
                </a:lnTo>
                <a:lnTo>
                  <a:pt x="161823" y="251307"/>
                </a:lnTo>
                <a:lnTo>
                  <a:pt x="923798" y="251307"/>
                </a:lnTo>
                <a:lnTo>
                  <a:pt x="970902" y="249656"/>
                </a:lnTo>
                <a:lnTo>
                  <a:pt x="1022997" y="234416"/>
                </a:lnTo>
                <a:lnTo>
                  <a:pt x="1056246" y="206705"/>
                </a:lnTo>
                <a:lnTo>
                  <a:pt x="1078128" y="168744"/>
                </a:lnTo>
                <a:lnTo>
                  <a:pt x="1085621" y="125793"/>
                </a:lnTo>
                <a:lnTo>
                  <a:pt x="1085342" y="114706"/>
                </a:lnTo>
                <a:lnTo>
                  <a:pt x="1068717" y="62903"/>
                </a:lnTo>
                <a:lnTo>
                  <a:pt x="1041006" y="29641"/>
                </a:lnTo>
                <a:lnTo>
                  <a:pt x="1003046" y="7759"/>
                </a:lnTo>
                <a:lnTo>
                  <a:pt x="949566" y="558"/>
                </a:lnTo>
                <a:lnTo>
                  <a:pt x="893597" y="0"/>
                </a:lnTo>
                <a:close/>
              </a:path>
            </a:pathLst>
          </a:custGeom>
          <a:solidFill>
            <a:srgbClr val="152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78090" y="3408116"/>
            <a:ext cx="651510" cy="14811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850" dirty="0" smtClean="0">
                <a:solidFill>
                  <a:schemeClr val="bg1"/>
                </a:solidFill>
                <a:latin typeface="Trebuchet MS"/>
                <a:cs typeface="Trebuchet MS"/>
              </a:rPr>
              <a:t>Database</a:t>
            </a:r>
            <a:endParaRPr sz="85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505200" y="2366699"/>
            <a:ext cx="2743199" cy="3449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150" dirty="0" smtClean="0">
                <a:latin typeface="Arial Black"/>
                <a:cs typeface="Arial Black"/>
              </a:rPr>
              <a:t>EDUBRIDGE AI</a:t>
            </a:r>
            <a:endParaRPr sz="215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24550" y="3364478"/>
            <a:ext cx="1085850" cy="251460"/>
          </a:xfrm>
          <a:custGeom>
            <a:avLst/>
            <a:gdLst/>
            <a:ahLst/>
            <a:cxnLst/>
            <a:rect l="l" t="t" r="r" b="b"/>
            <a:pathLst>
              <a:path w="1085850" h="251460">
                <a:moveTo>
                  <a:pt x="893533" y="0"/>
                </a:moveTo>
                <a:lnTo>
                  <a:pt x="192011" y="0"/>
                </a:lnTo>
                <a:lnTo>
                  <a:pt x="136042" y="558"/>
                </a:lnTo>
                <a:lnTo>
                  <a:pt x="97256" y="3873"/>
                </a:lnTo>
                <a:lnTo>
                  <a:pt x="44602" y="29641"/>
                </a:lnTo>
                <a:lnTo>
                  <a:pt x="16903" y="62903"/>
                </a:lnTo>
                <a:lnTo>
                  <a:pt x="1943" y="103911"/>
                </a:lnTo>
                <a:lnTo>
                  <a:pt x="0" y="125793"/>
                </a:lnTo>
                <a:lnTo>
                  <a:pt x="279" y="136601"/>
                </a:lnTo>
                <a:lnTo>
                  <a:pt x="16903" y="188696"/>
                </a:lnTo>
                <a:lnTo>
                  <a:pt x="44602" y="221945"/>
                </a:lnTo>
                <a:lnTo>
                  <a:pt x="82575" y="243827"/>
                </a:lnTo>
                <a:lnTo>
                  <a:pt x="136042" y="251040"/>
                </a:lnTo>
                <a:lnTo>
                  <a:pt x="161810" y="251307"/>
                </a:lnTo>
                <a:lnTo>
                  <a:pt x="923734" y="251307"/>
                </a:lnTo>
                <a:lnTo>
                  <a:pt x="970559" y="249656"/>
                </a:lnTo>
                <a:lnTo>
                  <a:pt x="1022934" y="234416"/>
                </a:lnTo>
                <a:lnTo>
                  <a:pt x="1056182" y="206705"/>
                </a:lnTo>
                <a:lnTo>
                  <a:pt x="1078064" y="168744"/>
                </a:lnTo>
                <a:lnTo>
                  <a:pt x="1085557" y="125793"/>
                </a:lnTo>
                <a:lnTo>
                  <a:pt x="1084999" y="114706"/>
                </a:lnTo>
                <a:lnTo>
                  <a:pt x="1068654" y="62903"/>
                </a:lnTo>
                <a:lnTo>
                  <a:pt x="1040663" y="29641"/>
                </a:lnTo>
                <a:lnTo>
                  <a:pt x="1002982" y="7759"/>
                </a:lnTo>
                <a:lnTo>
                  <a:pt x="949223" y="558"/>
                </a:lnTo>
                <a:lnTo>
                  <a:pt x="893533" y="0"/>
                </a:lnTo>
                <a:close/>
              </a:path>
            </a:pathLst>
          </a:custGeom>
          <a:solidFill>
            <a:srgbClr val="1528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30290" y="3401743"/>
            <a:ext cx="651510" cy="14811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850" dirty="0" smtClean="0">
                <a:solidFill>
                  <a:srgbClr val="FFFFFF"/>
                </a:solidFill>
                <a:latin typeface="Trebuchet MS"/>
                <a:cs typeface="Trebuchet MS"/>
              </a:rPr>
              <a:t>Backend</a:t>
            </a:r>
            <a:endParaRPr sz="85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8705" y="479120"/>
            <a:ext cx="4657985" cy="10686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8750" y="223621"/>
            <a:ext cx="1160335" cy="13241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9501" y="89420"/>
            <a:ext cx="1621409" cy="159259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16" name="object 4"/>
          <p:cNvSpPr txBox="1"/>
          <p:nvPr/>
        </p:nvSpPr>
        <p:spPr>
          <a:xfrm>
            <a:off x="4724400" y="3714750"/>
            <a:ext cx="990600" cy="73289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buFont typeface="Wingdings" pitchFamily="2" charset="2"/>
              <a:buChar char="q"/>
            </a:pPr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1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  <a:buFont typeface="Wingdings" pitchFamily="2" charset="2"/>
              <a:buChar char="q"/>
            </a:pPr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Java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  <a:buFont typeface="Wingdings" pitchFamily="2" charset="2"/>
              <a:buChar char="q"/>
            </a:pPr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Html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  <a:buFont typeface="Wingdings" pitchFamily="2" charset="2"/>
              <a:buChar char="q"/>
            </a:pPr>
            <a:r>
              <a:rPr lang="en-US" sz="1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CSS</a:t>
            </a:r>
            <a:endParaRPr sz="11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3600" y="3714750"/>
            <a:ext cx="1219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1100" dirty="0" smtClean="0"/>
              <a:t>Email.js</a:t>
            </a:r>
          </a:p>
          <a:p>
            <a:pPr>
              <a:buFont typeface="Wingdings" pitchFamily="2" charset="2"/>
              <a:buChar char="q"/>
            </a:pPr>
            <a:r>
              <a:rPr lang="en-US" sz="1100" dirty="0" err="1" smtClean="0"/>
              <a:t>Stabailty</a:t>
            </a:r>
            <a:r>
              <a:rPr lang="en-US" sz="1100" dirty="0" smtClean="0"/>
              <a:t>(API)</a:t>
            </a:r>
          </a:p>
          <a:p>
            <a:pPr>
              <a:buFont typeface="Wingdings" pitchFamily="2" charset="2"/>
              <a:buChar char="q"/>
            </a:pPr>
            <a:r>
              <a:rPr lang="en-US" sz="1100" dirty="0" err="1" smtClean="0"/>
              <a:t>Groq</a:t>
            </a:r>
            <a:r>
              <a:rPr lang="en-US" sz="1100" dirty="0" smtClean="0"/>
              <a:t>(API)</a:t>
            </a:r>
          </a:p>
          <a:p>
            <a:pPr>
              <a:buFont typeface="Wingdings" pitchFamily="2" charset="2"/>
              <a:buChar char="q"/>
            </a:pPr>
            <a:endParaRPr lang="en-US" sz="1100" dirty="0"/>
          </a:p>
        </p:txBody>
      </p:sp>
      <p:sp>
        <p:nvSpPr>
          <p:cNvPr id="18" name="Rectangle 17"/>
          <p:cNvSpPr/>
          <p:nvPr/>
        </p:nvSpPr>
        <p:spPr>
          <a:xfrm>
            <a:off x="7315200" y="3714750"/>
            <a:ext cx="16764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1100" dirty="0" err="1" smtClean="0"/>
              <a:t>Firestore</a:t>
            </a:r>
            <a:endParaRPr lang="en-US" sz="1100" dirty="0" smtClean="0"/>
          </a:p>
          <a:p>
            <a:pPr>
              <a:buFont typeface="Wingdings" pitchFamily="2" charset="2"/>
              <a:buChar char="q"/>
            </a:pPr>
            <a:r>
              <a:rPr lang="en-US" sz="1100" dirty="0" smtClean="0"/>
              <a:t>Local </a:t>
            </a:r>
            <a:r>
              <a:rPr lang="en-US" sz="1100" dirty="0" err="1" smtClean="0"/>
              <a:t>stoarge</a:t>
            </a:r>
            <a:endParaRPr lang="en-US" sz="1100" dirty="0"/>
          </a:p>
        </p:txBody>
      </p:sp>
      <p:sp>
        <p:nvSpPr>
          <p:cNvPr id="19" name="Rectangle 18"/>
          <p:cNvSpPr/>
          <p:nvPr/>
        </p:nvSpPr>
        <p:spPr>
          <a:xfrm>
            <a:off x="4155860" y="2800350"/>
            <a:ext cx="8322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91845" y="209550"/>
            <a:ext cx="5075555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Problem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57200" y="1123950"/>
            <a:ext cx="3977640" cy="2410916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200" dirty="0" smtClean="0">
                <a:solidFill>
                  <a:srgbClr val="FF0000"/>
                </a:solidFill>
              </a:rPr>
              <a:t>Problem Statement:-                                                                        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  <a:buFont typeface="Arial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b="0" dirty="0" smtClean="0"/>
              <a:t>Students show marks but lack true understanding of concepts.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  <a:buFont typeface="Arial" pitchFamily="34" charset="0"/>
              <a:buChar char="•"/>
            </a:pPr>
            <a:r>
              <a:rPr lang="en-US" sz="1200" b="0" dirty="0" smtClean="0"/>
              <a:t>Teachers cannot identify exact misunderstanding types in large classes.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  <a:buFont typeface="Arial" pitchFamily="34" charset="0"/>
              <a:buChar char="•"/>
            </a:pPr>
            <a:r>
              <a:rPr lang="en-US" sz="1200" b="0" dirty="0" smtClean="0"/>
              <a:t>Existing systems measure performance, not real comprehension gaps</a:t>
            </a:r>
            <a:r>
              <a:rPr lang="en-US" sz="1200" b="0" dirty="0" smtClean="0"/>
              <a:t>.</a:t>
            </a:r>
            <a:endParaRPr lang="en-US" sz="1200" b="0" i="0" dirty="0" smtClean="0"/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i="0" dirty="0" smtClean="0">
              <a:solidFill>
                <a:srgbClr val="FF0000"/>
              </a:solidFill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200" i="0" dirty="0" smtClean="0">
                <a:solidFill>
                  <a:srgbClr val="FF0000"/>
                </a:solidFill>
              </a:rPr>
              <a:t>Customer Segment :-</a:t>
            </a:r>
            <a:endParaRPr lang="en-US" sz="1200" i="0" dirty="0" smtClean="0">
              <a:solidFill>
                <a:srgbClr val="FF0000"/>
              </a:solidFill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buFont typeface="Arial" pitchFamily="34" charset="0"/>
              <a:buChar char="•"/>
            </a:pPr>
            <a:r>
              <a:rPr lang="en-US" sz="1200" b="0" i="0" dirty="0" smtClean="0"/>
              <a:t>Students in low-resource and rural classrooms.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  <a:buFont typeface="Arial" pitchFamily="34" charset="0"/>
              <a:buChar char="•"/>
            </a:pPr>
            <a:r>
              <a:rPr lang="en-US" sz="1200" b="0" i="0" dirty="0" smtClean="0"/>
              <a:t>Teachers handling high student-teacher ratios.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  <a:buFont typeface="Arial" pitchFamily="34" charset="0"/>
              <a:buChar char="•"/>
            </a:pPr>
            <a:r>
              <a:rPr lang="en-US" sz="1200" b="0" i="0" dirty="0" smtClean="0"/>
              <a:t>Schools with limited internet and digital access.</a:t>
            </a:r>
            <a:endParaRPr lang="en-US" sz="1200" b="0" i="0" dirty="0" smtClean="0"/>
          </a:p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3"/>
          </p:nvPr>
        </p:nvSpPr>
        <p:spPr>
          <a:xfrm>
            <a:off x="4648200" y="1123950"/>
            <a:ext cx="3977640" cy="2031325"/>
          </a:xfrm>
        </p:spPr>
        <p:txBody>
          <a:bodyPr/>
          <a:lstStyle/>
          <a:p>
            <a:r>
              <a:rPr lang="en-US" sz="1200" dirty="0" smtClean="0">
                <a:solidFill>
                  <a:srgbClr val="FF0000"/>
                </a:solidFill>
              </a:rPr>
              <a:t> Existing Solutions :-</a:t>
            </a:r>
            <a:endParaRPr lang="en-US" sz="1200" dirty="0" smtClean="0">
              <a:solidFill>
                <a:srgbClr val="FF0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200" b="0" dirty="0" smtClean="0"/>
              <a:t>E-learning platforms focus on content delivery, not comprehension detection.</a:t>
            </a:r>
          </a:p>
          <a:p>
            <a:pPr>
              <a:buFont typeface="Arial" pitchFamily="34" charset="0"/>
              <a:buChar char="•"/>
            </a:pPr>
            <a:r>
              <a:rPr lang="en-US" sz="1200" b="0" dirty="0" smtClean="0"/>
              <a:t>Traditional teaching lacks personalized feedback for each student.</a:t>
            </a:r>
          </a:p>
          <a:p>
            <a:pPr>
              <a:buFont typeface="Arial" pitchFamily="34" charset="0"/>
              <a:buChar char="•"/>
            </a:pPr>
            <a:r>
              <a:rPr lang="en-US" sz="1200" b="0" dirty="0" smtClean="0"/>
              <a:t>Most tools require continuous internet and high resources</a:t>
            </a:r>
            <a:r>
              <a:rPr lang="en-US" sz="1200" b="0" dirty="0" smtClean="0"/>
              <a:t>.</a:t>
            </a:r>
          </a:p>
          <a:p>
            <a:endParaRPr lang="en-US" sz="1200" b="0" dirty="0" smtClean="0"/>
          </a:p>
          <a:p>
            <a:r>
              <a:rPr lang="en-US" sz="1200" dirty="0" smtClean="0">
                <a:solidFill>
                  <a:srgbClr val="FF0000"/>
                </a:solidFill>
              </a:rPr>
              <a:t>Competition :-</a:t>
            </a:r>
          </a:p>
          <a:p>
            <a:pPr>
              <a:buFont typeface="Arial" pitchFamily="34" charset="0"/>
              <a:buChar char="•"/>
            </a:pPr>
            <a:r>
              <a:rPr lang="en-US" sz="1200" b="0" dirty="0" smtClean="0"/>
              <a:t>Video-learning apps (one-way learning, no gap detection).</a:t>
            </a:r>
          </a:p>
          <a:p>
            <a:pPr>
              <a:buFont typeface="Arial" pitchFamily="34" charset="0"/>
              <a:buChar char="•"/>
            </a:pPr>
            <a:r>
              <a:rPr lang="en-US" sz="1200" b="0" dirty="0" smtClean="0"/>
              <a:t>Exam-focused coaching systems.</a:t>
            </a:r>
          </a:p>
          <a:p>
            <a:pPr>
              <a:buFont typeface="Arial" pitchFamily="34" charset="0"/>
              <a:buChar char="•"/>
            </a:pPr>
            <a:r>
              <a:rPr lang="en-US" sz="1200" b="0" dirty="0" smtClean="0"/>
              <a:t>Basic adaptive tools with limited AI understanding of mistakes.</a:t>
            </a:r>
            <a:endParaRPr lang="en-US" sz="1200" b="0" dirty="0" smtClean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971550"/>
            <a:ext cx="7412990" cy="33598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lang="en-US" sz="1200" b="1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buFont typeface="Arial" pitchFamily="34" charset="0"/>
              <a:buChar char="•"/>
            </a:pPr>
            <a:r>
              <a:rPr lang="en-US" sz="1200" b="1" dirty="0" smtClean="0">
                <a:solidFill>
                  <a:srgbClr val="FF0000"/>
                </a:solidFill>
                <a:latin typeface="Calibri"/>
                <a:cs typeface="Calibri"/>
              </a:rPr>
              <a:t>TAM, SAM, SOM :-</a:t>
            </a:r>
            <a:endParaRPr lang="en-US" sz="1200" dirty="0" smtClean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  <a:buFont typeface="Arial" pitchFamily="34" charset="0"/>
              <a:buChar char="•"/>
            </a:pPr>
            <a:r>
              <a:rPr lang="en-US" sz="1200" b="1" dirty="0" smtClean="0">
                <a:solidFill>
                  <a:srgbClr val="00B0F0"/>
                </a:solidFill>
                <a:latin typeface="Calibri"/>
                <a:cs typeface="Calibri"/>
              </a:rPr>
              <a:t>TAM</a:t>
            </a:r>
            <a:r>
              <a:rPr lang="en-US" sz="1200" b="1" dirty="0" smtClean="0">
                <a:latin typeface="Calibri"/>
                <a:cs typeface="Calibri"/>
              </a:rPr>
              <a:t>: </a:t>
            </a:r>
            <a:r>
              <a:rPr lang="en-US" sz="1200" dirty="0" smtClean="0">
                <a:latin typeface="Calibri"/>
                <a:cs typeface="Calibri"/>
              </a:rPr>
              <a:t>Students needing better conceptual learning globally.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  <a:buFont typeface="Arial" pitchFamily="34" charset="0"/>
              <a:buChar char="•"/>
            </a:pPr>
            <a:r>
              <a:rPr lang="en-US" sz="1200" b="1" dirty="0" smtClean="0">
                <a:solidFill>
                  <a:srgbClr val="00B0F0"/>
                </a:solidFill>
                <a:latin typeface="Calibri"/>
                <a:cs typeface="Calibri"/>
              </a:rPr>
              <a:t>SAM: </a:t>
            </a:r>
            <a:r>
              <a:rPr lang="en-US" sz="1200" dirty="0" smtClean="0">
                <a:latin typeface="Calibri"/>
                <a:cs typeface="Calibri"/>
              </a:rPr>
              <a:t>Learners in developing &amp; low-resource environments.</a:t>
            </a:r>
          </a:p>
          <a:p>
            <a:pPr marL="12700">
              <a:lnSpc>
                <a:spcPct val="100000"/>
              </a:lnSpc>
              <a:spcBef>
                <a:spcPts val="120"/>
              </a:spcBef>
              <a:buFont typeface="Arial" pitchFamily="34" charset="0"/>
              <a:buChar char="•"/>
            </a:pPr>
            <a:r>
              <a:rPr lang="en-US" sz="1200" b="1" dirty="0" smtClean="0">
                <a:solidFill>
                  <a:srgbClr val="00B0F0"/>
                </a:solidFill>
                <a:latin typeface="Calibri"/>
                <a:cs typeface="Calibri"/>
              </a:rPr>
              <a:t>SOM: </a:t>
            </a:r>
            <a:r>
              <a:rPr lang="en-US" sz="1200" dirty="0" smtClean="0">
                <a:latin typeface="Calibri"/>
                <a:cs typeface="Calibri"/>
              </a:rPr>
              <a:t>Initial focus on schools with limited infrastructure (India).</a:t>
            </a:r>
          </a:p>
        </p:txBody>
      </p:sp>
      <p:sp>
        <p:nvSpPr>
          <p:cNvPr id="4" name="object 4"/>
          <p:cNvSpPr/>
          <p:nvPr/>
        </p:nvSpPr>
        <p:spPr>
          <a:xfrm>
            <a:off x="485456" y="4652234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1938" y="208114"/>
            <a:ext cx="2049526" cy="47021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85456" y="794779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3245" y="209550"/>
            <a:ext cx="5075555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sz="half" idx="2"/>
          </p:nvPr>
        </p:nvSpPr>
        <p:spPr>
          <a:xfrm>
            <a:off x="457200" y="1047750"/>
            <a:ext cx="8458200" cy="1508105"/>
          </a:xfrm>
        </p:spPr>
        <p:txBody>
          <a:bodyPr/>
          <a:lstStyle/>
          <a:p>
            <a:r>
              <a:rPr lang="en-US" sz="1400" dirty="0" smtClean="0">
                <a:solidFill>
                  <a:srgbClr val="FF0000"/>
                </a:solidFill>
              </a:rPr>
              <a:t>  What </a:t>
            </a:r>
            <a:r>
              <a:rPr lang="en-US" sz="1400" dirty="0" smtClean="0">
                <a:solidFill>
                  <a:srgbClr val="FF0000"/>
                </a:solidFill>
              </a:rPr>
              <a:t>is your Solution?</a:t>
            </a:r>
          </a:p>
          <a:p>
            <a:pPr>
              <a:buFont typeface="Arial" pitchFamily="34" charset="0"/>
              <a:buChar char="•"/>
            </a:pPr>
            <a:r>
              <a:rPr lang="en-US" sz="1400" b="0" dirty="0" smtClean="0"/>
              <a:t> AI-powered system that detects real comprehension gaps from student responses (voice/text/quiz).</a:t>
            </a:r>
          </a:p>
          <a:p>
            <a:pPr>
              <a:buFont typeface="Arial" pitchFamily="34" charset="0"/>
              <a:buChar char="•"/>
            </a:pPr>
            <a:r>
              <a:rPr lang="en-US" sz="1400" b="0" dirty="0" smtClean="0"/>
              <a:t>Provides personalized explanations using visuals, stories, and simple language.</a:t>
            </a:r>
          </a:p>
          <a:p>
            <a:pPr>
              <a:buFont typeface="Arial" pitchFamily="34" charset="0"/>
              <a:buChar char="•"/>
            </a:pPr>
            <a:r>
              <a:rPr lang="en-US" sz="1400" b="0" dirty="0" smtClean="0"/>
              <a:t>Works offline-first for low-resource classrooms with minimal </a:t>
            </a:r>
            <a:r>
              <a:rPr lang="en-US" sz="1400" b="0" dirty="0" smtClean="0"/>
              <a:t>teacher interruption.</a:t>
            </a:r>
          </a:p>
          <a:p>
            <a:r>
              <a:rPr lang="en-US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Parent-Friendly Monitoring</a:t>
            </a:r>
            <a:r>
              <a:rPr lang="en-US" sz="1400" b="0" i="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1400" b="0" i="0" dirty="0" smtClean="0"/>
              <a:t>An automated email is sent to parents whenever the student leaves or closes the app, ensuring transparency and monitoring.</a:t>
            </a:r>
          </a:p>
          <a:p>
            <a:endParaRPr lang="en-US" sz="1400" b="0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3"/>
          </p:nvPr>
        </p:nvSpPr>
        <p:spPr>
          <a:xfrm>
            <a:off x="533400" y="2647950"/>
            <a:ext cx="3581400" cy="2400657"/>
          </a:xfrm>
        </p:spPr>
        <p:txBody>
          <a:bodyPr/>
          <a:lstStyle/>
          <a:p>
            <a:r>
              <a:rPr lang="en-US" sz="1400" dirty="0" smtClean="0">
                <a:solidFill>
                  <a:srgbClr val="FF0000"/>
                </a:solidFill>
              </a:rPr>
              <a:t>Economic Benefit to the Customer :-</a:t>
            </a:r>
          </a:p>
          <a:p>
            <a:pPr>
              <a:buFont typeface="Arial" pitchFamily="34" charset="0"/>
              <a:buChar char="•"/>
            </a:pPr>
            <a:r>
              <a:rPr lang="en-US" sz="1400" b="0" dirty="0" smtClean="0"/>
              <a:t> Reduces dependency on expensive coaching and extra resources.</a:t>
            </a:r>
          </a:p>
          <a:p>
            <a:pPr>
              <a:buFont typeface="Arial" pitchFamily="34" charset="0"/>
              <a:buChar char="•"/>
            </a:pPr>
            <a:r>
              <a:rPr lang="en-US" sz="1400" b="0" dirty="0" smtClean="0"/>
              <a:t>Saves teacher time through automated misconception detection.</a:t>
            </a:r>
          </a:p>
          <a:p>
            <a:pPr>
              <a:buFont typeface="Arial" pitchFamily="34" charset="0"/>
              <a:buChar char="•"/>
            </a:pPr>
            <a:r>
              <a:rPr lang="en-US" sz="1400" b="0" dirty="0" smtClean="0"/>
              <a:t>Improves learning outcomes, leading to better academic performance</a:t>
            </a:r>
            <a:r>
              <a:rPr lang="en-US" b="0" dirty="0" smtClean="0"/>
              <a:t>.</a:t>
            </a:r>
          </a:p>
          <a:p>
            <a:endParaRPr lang="en-US" b="0" dirty="0" smtClean="0">
              <a:solidFill>
                <a:srgbClr val="FF0000"/>
              </a:solidFill>
            </a:endParaRPr>
          </a:p>
          <a:p>
            <a:r>
              <a:rPr lang="en-US" b="0" dirty="0" smtClean="0"/>
              <a:t>.</a:t>
            </a:r>
            <a:endParaRPr lang="en-US" b="0" dirty="0" smtClean="0"/>
          </a:p>
          <a:p>
            <a:endParaRPr lang="en-US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4" name="object 4"/>
          <p:cNvSpPr/>
          <p:nvPr/>
        </p:nvSpPr>
        <p:spPr>
          <a:xfrm>
            <a:off x="485456" y="4652234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1938" y="208114"/>
            <a:ext cx="2049526" cy="47021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85456" y="748685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7200" y="2634555"/>
            <a:ext cx="4495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What Makes Your Solution Unique?</a:t>
            </a:r>
          </a:p>
          <a:p>
            <a:pPr>
              <a:buFont typeface="Arial" pitchFamily="34" charset="0"/>
              <a:buChar char="•"/>
            </a:pPr>
            <a:r>
              <a:rPr lang="en-US" sz="1400" b="0" i="1" dirty="0" smtClean="0"/>
              <a:t>Focuses on understanding (why wrong), not just marks or scores.</a:t>
            </a:r>
          </a:p>
          <a:p>
            <a:pPr>
              <a:buFont typeface="Arial" pitchFamily="34" charset="0"/>
              <a:buChar char="•"/>
            </a:pPr>
            <a:r>
              <a:rPr lang="en-US" sz="1400" b="0" i="1" dirty="0" smtClean="0"/>
              <a:t>Generates AI-based visual storytelling explanations for clarity.</a:t>
            </a:r>
          </a:p>
          <a:p>
            <a:pPr>
              <a:buFont typeface="Arial" pitchFamily="34" charset="0"/>
              <a:buChar char="•"/>
            </a:pPr>
            <a:r>
              <a:rPr lang="en-US" sz="1400" b="0" i="1" dirty="0" smtClean="0"/>
              <a:t>Designed for low internet + regional language support</a:t>
            </a:r>
            <a:endParaRPr lang="en-US" sz="14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20445" y="209550"/>
            <a:ext cx="5075555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Product</a:t>
            </a:r>
          </a:p>
        </p:txBody>
      </p:sp>
      <p:sp>
        <p:nvSpPr>
          <p:cNvPr id="3" name="object 3"/>
          <p:cNvSpPr/>
          <p:nvPr/>
        </p:nvSpPr>
        <p:spPr>
          <a:xfrm>
            <a:off x="485456" y="4652234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1938" y="208114"/>
            <a:ext cx="2049526" cy="4702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85456" y="863495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66800" y="971550"/>
            <a:ext cx="6324600" cy="367664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8285" indent="-235585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248285" algn="l"/>
              </a:tabLst>
            </a:pPr>
            <a:r>
              <a:rPr sz="1400" b="1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1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Journey:</a:t>
            </a:r>
            <a:endParaRPr sz="14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0"/>
              </a:spcBef>
              <a:buFont typeface="Arial" pitchFamily="34" charset="0"/>
              <a:buChar char="•"/>
            </a:pPr>
            <a:r>
              <a:rPr lang="en-US" sz="1200" dirty="0" smtClean="0">
                <a:latin typeface="Times New Roman"/>
                <a:cs typeface="Times New Roman"/>
              </a:rPr>
              <a:t>Student/teacher registers and selects language &amp; learning level.</a:t>
            </a:r>
          </a:p>
          <a:p>
            <a:pPr marL="469265">
              <a:lnSpc>
                <a:spcPct val="100000"/>
              </a:lnSpc>
              <a:spcBef>
                <a:spcPts val="10"/>
              </a:spcBef>
              <a:buFont typeface="Arial" pitchFamily="34" charset="0"/>
              <a:buChar char="•"/>
            </a:pPr>
            <a:r>
              <a:rPr lang="en-US" sz="1200" dirty="0" smtClean="0">
                <a:latin typeface="Times New Roman"/>
                <a:cs typeface="Times New Roman"/>
              </a:rPr>
              <a:t>Access lessons, videos, and AI-based doubt solving.</a:t>
            </a:r>
          </a:p>
          <a:p>
            <a:pPr marL="469265">
              <a:lnSpc>
                <a:spcPct val="100000"/>
              </a:lnSpc>
              <a:spcBef>
                <a:spcPts val="10"/>
              </a:spcBef>
              <a:buFont typeface="Arial" pitchFamily="34" charset="0"/>
              <a:buChar char="•"/>
            </a:pPr>
            <a:r>
              <a:rPr lang="en-US" sz="1200" dirty="0" smtClean="0">
                <a:latin typeface="Times New Roman"/>
                <a:cs typeface="Times New Roman"/>
              </a:rPr>
              <a:t>Track progress, complete tasks, and get feedback.</a:t>
            </a:r>
            <a:endParaRPr sz="120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spcBef>
                <a:spcPts val="10"/>
              </a:spcBef>
              <a:buAutoNum type="arabicPeriod" startAt="2"/>
              <a:tabLst>
                <a:tab pos="248285" algn="l"/>
              </a:tabLst>
            </a:pPr>
            <a:r>
              <a:rPr sz="1400" b="1" smtClean="0">
                <a:solidFill>
                  <a:srgbClr val="FF0000"/>
                </a:solidFill>
                <a:latin typeface="Times New Roman"/>
                <a:cs typeface="Times New Roman"/>
              </a:rPr>
              <a:t>Screens</a:t>
            </a:r>
            <a:r>
              <a:rPr sz="1400" b="1" spc="-2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0000"/>
                </a:solidFill>
                <a:latin typeface="Times New Roman"/>
                <a:cs typeface="Times New Roman"/>
              </a:rPr>
              <a:t>/</a:t>
            </a:r>
            <a:r>
              <a:rPr sz="1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1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1400" b="1" spc="-10" smtClean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14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0"/>
              </a:spcBef>
              <a:buFont typeface="Arial" pitchFamily="34" charset="0"/>
              <a:buChar char="•"/>
            </a:pPr>
            <a:r>
              <a:rPr lang="en-US" sz="1200" dirty="0" smtClean="0">
                <a:latin typeface="Times New Roman"/>
                <a:cs typeface="Times New Roman"/>
              </a:rPr>
              <a:t>Simple UI: Login, Dashboard, Learning Module, </a:t>
            </a:r>
            <a:r>
              <a:rPr lang="en-US" sz="1200" dirty="0" err="1" smtClean="0">
                <a:latin typeface="Times New Roman"/>
                <a:cs typeface="Times New Roman"/>
              </a:rPr>
              <a:t>Chatbot</a:t>
            </a:r>
            <a:r>
              <a:rPr lang="en-US" sz="1200" dirty="0" smtClean="0">
                <a:latin typeface="Times New Roman"/>
                <a:cs typeface="Times New Roman"/>
              </a:rPr>
              <a:t> support.</a:t>
            </a:r>
          </a:p>
          <a:p>
            <a:pPr marL="469265">
              <a:lnSpc>
                <a:spcPct val="100000"/>
              </a:lnSpc>
              <a:spcBef>
                <a:spcPts val="10"/>
              </a:spcBef>
              <a:buFont typeface="Arial" pitchFamily="34" charset="0"/>
              <a:buChar char="•"/>
            </a:pPr>
            <a:r>
              <a:rPr lang="en-US" sz="1200" dirty="0" smtClean="0">
                <a:latin typeface="Times New Roman"/>
                <a:cs typeface="Times New Roman"/>
              </a:rPr>
              <a:t>AI engine provides personalized content and answers doubts.</a:t>
            </a:r>
          </a:p>
          <a:p>
            <a:pPr marL="469265">
              <a:lnSpc>
                <a:spcPct val="100000"/>
              </a:lnSpc>
              <a:spcBef>
                <a:spcPts val="10"/>
              </a:spcBef>
              <a:buFont typeface="Arial" pitchFamily="34" charset="0"/>
              <a:buChar char="•"/>
            </a:pPr>
            <a:r>
              <a:rPr lang="en-US" sz="1200" dirty="0" smtClean="0">
                <a:latin typeface="Times New Roman"/>
                <a:cs typeface="Times New Roman"/>
              </a:rPr>
              <a:t>Architecture: Mobile/Web App → AI Server → Cloud Database.</a:t>
            </a:r>
            <a:endParaRPr sz="1200" smtClean="0"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spcBef>
                <a:spcPts val="10"/>
              </a:spcBef>
              <a:buAutoNum type="arabicPeriod" startAt="3"/>
              <a:tabLst>
                <a:tab pos="248285" algn="l"/>
              </a:tabLst>
            </a:pPr>
            <a:r>
              <a:rPr lang="en-US" sz="14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smtClean="0">
                <a:solidFill>
                  <a:srgbClr val="FF0000"/>
                </a:solidFill>
                <a:latin typeface="Times New Roman"/>
                <a:cs typeface="Times New Roman"/>
              </a:rPr>
              <a:t>Constraints</a:t>
            </a:r>
            <a:r>
              <a:rPr sz="1400" b="1" spc="-5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spc="-10">
                <a:solidFill>
                  <a:srgbClr val="FF0000"/>
                </a:solidFill>
                <a:latin typeface="Times New Roman"/>
                <a:cs typeface="Times New Roman"/>
              </a:rPr>
              <a:t>Handling</a:t>
            </a:r>
            <a:r>
              <a:rPr sz="1400" b="1" spc="-10" smtClean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lang="en-US" sz="1400" b="1" spc="-10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48285" indent="-235585">
              <a:lnSpc>
                <a:spcPct val="100000"/>
              </a:lnSpc>
              <a:spcBef>
                <a:spcPts val="10"/>
              </a:spcBef>
              <a:tabLst>
                <a:tab pos="248285" algn="l"/>
              </a:tabLst>
            </a:pPr>
            <a:r>
              <a:rPr lang="en-US" sz="1400" b="1" spc="-10" dirty="0" smtClean="0">
                <a:latin typeface="Times New Roman"/>
                <a:cs typeface="Times New Roman"/>
              </a:rPr>
              <a:t>            </a:t>
            </a:r>
            <a:r>
              <a:rPr lang="en-US" sz="1200" spc="-10" dirty="0" smtClean="0">
                <a:latin typeface="Times New Roman"/>
                <a:cs typeface="Times New Roman"/>
              </a:rPr>
              <a:t>Designed for low-cost devices and rural users.</a:t>
            </a:r>
          </a:p>
          <a:p>
            <a:pPr marL="248285" indent="-235585">
              <a:lnSpc>
                <a:spcPct val="100000"/>
              </a:lnSpc>
              <a:spcBef>
                <a:spcPts val="10"/>
              </a:spcBef>
              <a:tabLst>
                <a:tab pos="248285" algn="l"/>
              </a:tabLst>
            </a:pPr>
            <a:r>
              <a:rPr lang="en-US" sz="1200" spc="-10" dirty="0">
                <a:latin typeface="Times New Roman"/>
                <a:cs typeface="Times New Roman"/>
              </a:rPr>
              <a:t> </a:t>
            </a:r>
            <a:r>
              <a:rPr lang="en-US" sz="1200" spc="-10" dirty="0" smtClean="0">
                <a:latin typeface="Times New Roman"/>
                <a:cs typeface="Times New Roman"/>
              </a:rPr>
              <a:t>             Simple interface for easy understanding.</a:t>
            </a:r>
          </a:p>
          <a:p>
            <a:pPr marL="248285" indent="-235585">
              <a:lnSpc>
                <a:spcPct val="100000"/>
              </a:lnSpc>
              <a:spcBef>
                <a:spcPts val="10"/>
              </a:spcBef>
              <a:tabLst>
                <a:tab pos="248285" algn="l"/>
              </a:tabLst>
            </a:pPr>
            <a:r>
              <a:rPr lang="en-US" sz="1200" spc="-10" dirty="0" smtClean="0">
                <a:latin typeface="Times New Roman"/>
                <a:cs typeface="Times New Roman"/>
              </a:rPr>
              <a:t>              Scalable system to support many students.</a:t>
            </a:r>
            <a:endParaRPr sz="1200">
              <a:latin typeface="Times New Roman"/>
              <a:cs typeface="Times New Roman"/>
            </a:endParaRPr>
          </a:p>
          <a:p>
            <a:pPr marL="306705" indent="-294005">
              <a:lnSpc>
                <a:spcPct val="100000"/>
              </a:lnSpc>
              <a:spcBef>
                <a:spcPts val="10"/>
              </a:spcBef>
              <a:tabLst>
                <a:tab pos="306705" algn="l"/>
              </a:tabLst>
            </a:pPr>
            <a:r>
              <a:rPr lang="en-US" sz="14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4.   </a:t>
            </a:r>
            <a:r>
              <a:rPr sz="1400" b="1" smtClean="0">
                <a:solidFill>
                  <a:srgbClr val="FF0000"/>
                </a:solidFill>
                <a:latin typeface="Times New Roman"/>
                <a:cs typeface="Times New Roman"/>
              </a:rPr>
              <a:t>How</a:t>
            </a:r>
            <a:r>
              <a:rPr sz="1400" b="1" spc="-2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0000"/>
                </a:solidFill>
                <a:latin typeface="Times New Roman"/>
                <a:cs typeface="Times New Roman"/>
              </a:rPr>
              <a:t>does</a:t>
            </a:r>
            <a:r>
              <a:rPr sz="1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r>
              <a:rPr sz="1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FF0000"/>
                </a:solidFill>
                <a:latin typeface="Times New Roman"/>
                <a:cs typeface="Times New Roman"/>
              </a:rPr>
              <a:t>work</a:t>
            </a:r>
            <a:r>
              <a:rPr sz="1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with:</a:t>
            </a:r>
            <a:endParaRPr sz="14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  <a:spcBef>
                <a:spcPts val="15"/>
              </a:spcBef>
            </a:pPr>
            <a:r>
              <a:rPr lang="en-US" sz="1200" b="1" dirty="0" smtClean="0">
                <a:solidFill>
                  <a:srgbClr val="00B0F0"/>
                </a:solidFill>
                <a:latin typeface="Times New Roman"/>
                <a:cs typeface="Times New Roman"/>
              </a:rPr>
              <a:t>Low Internet : </a:t>
            </a:r>
            <a:r>
              <a:rPr lang="en-US" sz="1200" dirty="0" smtClean="0">
                <a:latin typeface="Times New Roman"/>
                <a:cs typeface="Times New Roman"/>
              </a:rPr>
              <a:t>Offline access to downloaded lessons.</a:t>
            </a:r>
          </a:p>
          <a:p>
            <a:pPr marL="469265">
              <a:lnSpc>
                <a:spcPct val="100000"/>
              </a:lnSpc>
              <a:spcBef>
                <a:spcPts val="15"/>
              </a:spcBef>
            </a:pPr>
            <a:r>
              <a:rPr lang="en-US" sz="1200" dirty="0" smtClean="0">
                <a:latin typeface="Times New Roman"/>
                <a:cs typeface="Times New Roman"/>
              </a:rPr>
              <a:t>                          Low data usage with compressed content.</a:t>
            </a:r>
          </a:p>
          <a:p>
            <a:pPr marL="469265">
              <a:lnSpc>
                <a:spcPct val="100000"/>
              </a:lnSpc>
              <a:spcBef>
                <a:spcPts val="15"/>
              </a:spcBef>
            </a:pPr>
            <a:r>
              <a:rPr lang="en-US" sz="1200" b="1" dirty="0" smtClean="0">
                <a:solidFill>
                  <a:srgbClr val="00B0F0"/>
                </a:solidFill>
                <a:latin typeface="Times New Roman"/>
                <a:cs typeface="Times New Roman"/>
              </a:rPr>
              <a:t>Low Literacy : </a:t>
            </a:r>
            <a:r>
              <a:rPr lang="en-US" sz="1200" dirty="0" smtClean="0">
                <a:latin typeface="Times New Roman"/>
                <a:cs typeface="Times New Roman"/>
              </a:rPr>
              <a:t>Voice-based learning and visual content.</a:t>
            </a:r>
          </a:p>
          <a:p>
            <a:pPr marL="469265">
              <a:lnSpc>
                <a:spcPct val="100000"/>
              </a:lnSpc>
              <a:spcBef>
                <a:spcPts val="15"/>
              </a:spcBef>
            </a:pPr>
            <a:r>
              <a:rPr lang="en-US" sz="1200" dirty="0" smtClean="0">
                <a:latin typeface="Times New Roman"/>
                <a:cs typeface="Times New Roman"/>
              </a:rPr>
              <a:t>                           Regional language support.</a:t>
            </a:r>
          </a:p>
          <a:p>
            <a:pPr marL="469265">
              <a:lnSpc>
                <a:spcPct val="100000"/>
              </a:lnSpc>
              <a:spcBef>
                <a:spcPts val="15"/>
              </a:spcBef>
            </a:pPr>
            <a:r>
              <a:rPr lang="en-US" sz="1200" b="1" dirty="0" smtClean="0">
                <a:solidFill>
                  <a:srgbClr val="00B0F0"/>
                </a:solidFill>
                <a:latin typeface="Times New Roman"/>
                <a:cs typeface="Times New Roman"/>
              </a:rPr>
              <a:t>No Infrastructure : </a:t>
            </a:r>
            <a:r>
              <a:rPr lang="en-US" sz="1200" dirty="0" smtClean="0">
                <a:latin typeface="Times New Roman"/>
                <a:cs typeface="Times New Roman"/>
              </a:rPr>
              <a:t>Works on </a:t>
            </a:r>
            <a:r>
              <a:rPr lang="en-US" sz="1200" dirty="0" err="1" smtClean="0">
                <a:latin typeface="Times New Roman"/>
                <a:cs typeface="Times New Roman"/>
              </a:rPr>
              <a:t>smartphones</a:t>
            </a:r>
            <a:r>
              <a:rPr lang="en-US" sz="1200" dirty="0" smtClean="0">
                <a:latin typeface="Times New Roman"/>
                <a:cs typeface="Times New Roman"/>
              </a:rPr>
              <a:t> without needing schools or labs.</a:t>
            </a:r>
          </a:p>
          <a:p>
            <a:pPr marL="469265">
              <a:lnSpc>
                <a:spcPct val="100000"/>
              </a:lnSpc>
              <a:spcBef>
                <a:spcPts val="15"/>
              </a:spcBef>
            </a:pPr>
            <a:r>
              <a:rPr lang="en-US" sz="1200" dirty="0" smtClean="0">
                <a:latin typeface="Times New Roman"/>
                <a:cs typeface="Times New Roman"/>
              </a:rPr>
              <a:t>                                  Can be used anywhere, anytime.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9445" y="146071"/>
            <a:ext cx="5075555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30"/>
              </a:spcBef>
            </a:pPr>
            <a:r>
              <a:rPr dirty="0"/>
              <a:t>Startup</a:t>
            </a:r>
            <a:r>
              <a:rPr spc="20" dirty="0"/>
              <a:t> </a:t>
            </a:r>
            <a:r>
              <a:rPr spc="-10" dirty="0"/>
              <a:t>Potential</a:t>
            </a:r>
          </a:p>
        </p:txBody>
      </p:sp>
      <p:sp>
        <p:nvSpPr>
          <p:cNvPr id="3" name="object 3"/>
          <p:cNvSpPr/>
          <p:nvPr/>
        </p:nvSpPr>
        <p:spPr>
          <a:xfrm>
            <a:off x="485456" y="4652234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1938" y="208114"/>
            <a:ext cx="2049526" cy="4702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85458" y="775559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799" y="895350"/>
            <a:ext cx="7848601" cy="36522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270510" algn="l"/>
              </a:tabLst>
            </a:pPr>
            <a:r>
              <a:rPr sz="1400" b="1" dirty="0">
                <a:solidFill>
                  <a:srgbClr val="FF0000"/>
                </a:solidFill>
                <a:latin typeface="Cambria"/>
                <a:cs typeface="Cambria"/>
              </a:rPr>
              <a:t>Who</a:t>
            </a:r>
            <a:r>
              <a:rPr sz="14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mbria"/>
                <a:cs typeface="Cambria"/>
              </a:rPr>
              <a:t>will</a:t>
            </a:r>
            <a:r>
              <a:rPr sz="14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mbria"/>
                <a:cs typeface="Cambria"/>
              </a:rPr>
              <a:t>actually</a:t>
            </a:r>
            <a:r>
              <a:rPr sz="14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mbria"/>
                <a:cs typeface="Cambria"/>
              </a:rPr>
              <a:t>use</a:t>
            </a:r>
            <a:r>
              <a:rPr sz="14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spc="-10">
                <a:solidFill>
                  <a:srgbClr val="FF0000"/>
                </a:solidFill>
                <a:latin typeface="Cambria"/>
                <a:cs typeface="Cambria"/>
              </a:rPr>
              <a:t>this</a:t>
            </a:r>
            <a:r>
              <a:rPr sz="1400" b="1" spc="-10" smtClean="0">
                <a:solidFill>
                  <a:srgbClr val="FF0000"/>
                </a:solidFill>
                <a:latin typeface="Cambria"/>
                <a:cs typeface="Cambria"/>
              </a:rPr>
              <a:t>?</a:t>
            </a:r>
            <a:endParaRPr lang="en-US" sz="1400" b="1" spc="-10" dirty="0" smtClean="0">
              <a:solidFill>
                <a:srgbClr val="FF0000"/>
              </a:solidFill>
              <a:latin typeface="Cambria"/>
              <a:cs typeface="Cambria"/>
            </a:endParaRPr>
          </a:p>
          <a:p>
            <a:pPr marL="270510" indent="-25781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spc="-10" dirty="0" smtClean="0">
                <a:latin typeface="Bodoni MT" pitchFamily="18" charset="0"/>
                <a:cs typeface="Cambria"/>
              </a:rPr>
              <a:t>  Students from rural and low-resource areas.</a:t>
            </a:r>
          </a:p>
          <a:p>
            <a:pPr marL="270510" indent="-25781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spc="-10" dirty="0" smtClean="0">
                <a:latin typeface="Bodoni MT" pitchFamily="18" charset="0"/>
                <a:cs typeface="Cambria"/>
              </a:rPr>
              <a:t>  Teachers needing digital teaching support.</a:t>
            </a:r>
          </a:p>
          <a:p>
            <a:pPr marL="270510" indent="-25781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spc="-10" dirty="0" smtClean="0">
                <a:latin typeface="Bodoni MT" pitchFamily="18" charset="0"/>
                <a:cs typeface="Cambria"/>
              </a:rPr>
              <a:t>  NGOs and schools focusing on inclusive education.</a:t>
            </a:r>
            <a:endParaRPr lang="en-US" sz="1400" b="1" spc="-10" dirty="0">
              <a:latin typeface="Bodoni MT" pitchFamily="18" charset="0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70510" algn="l"/>
              </a:tabLst>
            </a:pPr>
            <a:r>
              <a:rPr lang="en-US" sz="1400" b="1" dirty="0" smtClean="0">
                <a:solidFill>
                  <a:srgbClr val="FF0000"/>
                </a:solidFill>
                <a:latin typeface="Cambria"/>
                <a:cs typeface="Cambria"/>
              </a:rPr>
              <a:t>W</a:t>
            </a:r>
            <a:r>
              <a:rPr sz="1400" b="1" smtClean="0">
                <a:solidFill>
                  <a:srgbClr val="FF0000"/>
                </a:solidFill>
                <a:latin typeface="Cambria"/>
                <a:cs typeface="Cambria"/>
              </a:rPr>
              <a:t>hy</a:t>
            </a:r>
            <a:r>
              <a:rPr sz="1400" b="1" spc="-50" smtClean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mbria"/>
                <a:cs typeface="Cambria"/>
              </a:rPr>
              <a:t>will</a:t>
            </a:r>
            <a:r>
              <a:rPr sz="14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mbria"/>
                <a:cs typeface="Cambria"/>
              </a:rPr>
              <a:t>they</a:t>
            </a:r>
            <a:r>
              <a:rPr sz="1400" b="1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mbria"/>
                <a:cs typeface="Cambria"/>
              </a:rPr>
              <a:t>adopt</a:t>
            </a:r>
            <a:r>
              <a:rPr sz="1400" b="1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spc="-25">
                <a:solidFill>
                  <a:srgbClr val="FF0000"/>
                </a:solidFill>
                <a:latin typeface="Cambria"/>
                <a:cs typeface="Cambria"/>
              </a:rPr>
              <a:t>it</a:t>
            </a:r>
            <a:r>
              <a:rPr sz="1400" b="1" spc="-25" smtClean="0">
                <a:solidFill>
                  <a:srgbClr val="FF0000"/>
                </a:solidFill>
                <a:latin typeface="Cambria"/>
                <a:cs typeface="Cambria"/>
              </a:rPr>
              <a:t>?</a:t>
            </a:r>
            <a:endParaRPr lang="en-US" sz="1400" b="1" spc="-25" dirty="0" smtClean="0">
              <a:solidFill>
                <a:srgbClr val="FF0000"/>
              </a:solidFill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spc="-25" dirty="0" smtClean="0">
                <a:latin typeface="Bodoni MT" pitchFamily="18" charset="0"/>
                <a:cs typeface="Cambria"/>
              </a:rPr>
              <a:t>Easy to use with local language and simple interface.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spc="-25" dirty="0" smtClean="0">
                <a:latin typeface="Bodoni MT" pitchFamily="18" charset="0"/>
                <a:cs typeface="Cambria"/>
              </a:rPr>
              <a:t>Provides affordable and accessible quality education.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spc="-25" dirty="0" smtClean="0">
                <a:latin typeface="Bodoni MT" pitchFamily="18" charset="0"/>
                <a:cs typeface="Cambria"/>
              </a:rPr>
              <a:t>AI-based personalized learning improves understanding.</a:t>
            </a:r>
            <a:endParaRPr lang="en-US" sz="1400" b="1" spc="-25" dirty="0">
              <a:latin typeface="Bodoni MT" pitchFamily="18" charset="0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270510" algn="l"/>
              </a:tabLst>
            </a:pPr>
            <a:r>
              <a:rPr sz="1400" b="1" smtClean="0">
                <a:solidFill>
                  <a:srgbClr val="FF0000"/>
                </a:solidFill>
                <a:latin typeface="Cambria"/>
                <a:cs typeface="Cambria"/>
              </a:rPr>
              <a:t>Can</a:t>
            </a:r>
            <a:r>
              <a:rPr sz="1400" b="1" spc="-15" smtClean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mbria"/>
                <a:cs typeface="Cambria"/>
              </a:rPr>
              <a:t>it</a:t>
            </a:r>
            <a:r>
              <a:rPr sz="1400" b="1" spc="-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dirty="0">
                <a:solidFill>
                  <a:srgbClr val="FF0000"/>
                </a:solidFill>
                <a:latin typeface="Cambria"/>
                <a:cs typeface="Cambria"/>
              </a:rPr>
              <a:t>scale? </a:t>
            </a:r>
            <a:r>
              <a:rPr sz="1400" b="1" spc="-20">
                <a:solidFill>
                  <a:srgbClr val="FF0000"/>
                </a:solidFill>
                <a:latin typeface="Cambria"/>
                <a:cs typeface="Cambria"/>
              </a:rPr>
              <a:t>How</a:t>
            </a:r>
            <a:r>
              <a:rPr sz="1400" b="1" spc="-20" smtClean="0">
                <a:solidFill>
                  <a:srgbClr val="FF0000"/>
                </a:solidFill>
                <a:latin typeface="Cambria"/>
                <a:cs typeface="Cambria"/>
              </a:rPr>
              <a:t>?</a:t>
            </a:r>
            <a:endParaRPr lang="en-US" sz="1400" b="1" spc="-20" dirty="0" smtClean="0">
              <a:solidFill>
                <a:srgbClr val="FF0000"/>
              </a:solidFill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dirty="0" smtClean="0">
                <a:latin typeface="Bodoni MT" pitchFamily="18" charset="0"/>
                <a:cs typeface="Cambria"/>
              </a:rPr>
              <a:t>Cloud-based platform can support large number of users.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dirty="0" smtClean="0">
                <a:latin typeface="Bodoni MT" pitchFamily="18" charset="0"/>
                <a:cs typeface="Cambria"/>
              </a:rPr>
              <a:t>Can expand to different regions with multiple languages.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dirty="0" smtClean="0">
                <a:latin typeface="Bodoni MT" pitchFamily="18" charset="0"/>
                <a:cs typeface="Cambria"/>
              </a:rPr>
              <a:t>Easily adaptable for schools, colleges, and training centers.</a:t>
            </a:r>
            <a:endParaRPr lang="en-US" sz="1400" dirty="0">
              <a:latin typeface="Bodoni MT" pitchFamily="18" charset="0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70510" algn="l"/>
              </a:tabLst>
            </a:pPr>
            <a:r>
              <a:rPr sz="1400" b="1" spc="-10" smtClean="0">
                <a:solidFill>
                  <a:srgbClr val="FF0000"/>
                </a:solidFill>
                <a:latin typeface="Cambria"/>
                <a:cs typeface="Cambria"/>
              </a:rPr>
              <a:t>Revenue</a:t>
            </a:r>
            <a:r>
              <a:rPr sz="1400" b="1" spc="-85" smtClean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400" b="1" spc="-10" smtClean="0">
                <a:solidFill>
                  <a:srgbClr val="FF0000"/>
                </a:solidFill>
                <a:latin typeface="Cambria"/>
                <a:cs typeface="Cambria"/>
              </a:rPr>
              <a:t>logic</a:t>
            </a:r>
            <a:endParaRPr lang="en-US" sz="1400" b="1" spc="-10" dirty="0" smtClean="0">
              <a:solidFill>
                <a:srgbClr val="FF0000"/>
              </a:solidFill>
              <a:latin typeface="Cambria"/>
              <a:cs typeface="Cambria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dirty="0" err="1" smtClean="0">
                <a:latin typeface="Bodoni MT" pitchFamily="18" charset="0"/>
                <a:cs typeface="Cambria"/>
              </a:rPr>
              <a:t>Freemium</a:t>
            </a:r>
            <a:r>
              <a:rPr lang="en-US" sz="1400" dirty="0" smtClean="0">
                <a:latin typeface="Bodoni MT" pitchFamily="18" charset="0"/>
                <a:cs typeface="Cambria"/>
              </a:rPr>
              <a:t> model basic content free, advanced features paid.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dirty="0" smtClean="0">
                <a:latin typeface="Bodoni MT" pitchFamily="18" charset="0"/>
                <a:cs typeface="Cambria"/>
              </a:rPr>
              <a:t>Subscription plans for schools and institutions.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  <a:tabLst>
                <a:tab pos="270510" algn="l"/>
              </a:tabLst>
            </a:pPr>
            <a:r>
              <a:rPr lang="en-US" sz="1400" dirty="0" smtClean="0">
                <a:latin typeface="Bodoni MT" pitchFamily="18" charset="0"/>
                <a:cs typeface="Cambria"/>
              </a:rPr>
              <a:t>Partnerships with NGOs/government for funding and reach.</a:t>
            </a:r>
            <a:endParaRPr sz="1400">
              <a:latin typeface="Bodoni MT" pitchFamily="18" charset="0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9445" y="219936"/>
            <a:ext cx="5075555" cy="3706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Social</a:t>
            </a:r>
            <a:r>
              <a:rPr spc="45" dirty="0"/>
              <a:t> </a:t>
            </a:r>
            <a:r>
              <a:rPr dirty="0"/>
              <a:t>Economic</a:t>
            </a:r>
            <a:r>
              <a:rPr spc="45" dirty="0"/>
              <a:t> </a:t>
            </a:r>
            <a:r>
              <a:rPr dirty="0"/>
              <a:t>Impact</a:t>
            </a:r>
            <a:r>
              <a:rPr spc="45" dirty="0"/>
              <a:t> </a:t>
            </a:r>
            <a:r>
              <a:rPr dirty="0"/>
              <a:t>of</a:t>
            </a:r>
            <a:r>
              <a:rPr spc="45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spc="-10" dirty="0"/>
              <a:t>Product</a:t>
            </a:r>
          </a:p>
        </p:txBody>
      </p:sp>
      <p:sp>
        <p:nvSpPr>
          <p:cNvPr id="3" name="object 3"/>
          <p:cNvSpPr/>
          <p:nvPr/>
        </p:nvSpPr>
        <p:spPr>
          <a:xfrm>
            <a:off x="485456" y="4652234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1938" y="208114"/>
            <a:ext cx="2049526" cy="4702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85458" y="775559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2000" y="819150"/>
            <a:ext cx="7848600" cy="386836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2095" indent="-239395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252095" algn="l"/>
              </a:tabLst>
            </a:pPr>
            <a:r>
              <a:rPr sz="1300" i="0" spc="1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What</a:t>
            </a:r>
            <a:r>
              <a:rPr sz="1300" i="0" spc="2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changes</a:t>
            </a:r>
            <a:r>
              <a:rPr sz="1300" i="0" spc="2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3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after</a:t>
            </a:r>
            <a:r>
              <a:rPr sz="1300" i="0" spc="2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6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your</a:t>
            </a:r>
            <a:r>
              <a:rPr sz="1300" i="0" spc="2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1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solution</a:t>
            </a:r>
            <a:r>
              <a:rPr sz="1300" i="0" spc="11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?</a:t>
            </a:r>
            <a:endParaRPr lang="en-US" sz="1300" i="0" spc="11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52095" indent="-239395">
              <a:lnSpc>
                <a:spcPct val="100000"/>
              </a:lnSpc>
              <a:spcBef>
                <a:spcPts val="125"/>
              </a:spcBef>
              <a:buFont typeface="Arial" pitchFamily="34" charset="0"/>
              <a:buChar char="•"/>
              <a:tabLst>
                <a:tab pos="252095" algn="l"/>
              </a:tabLst>
            </a:pPr>
            <a:r>
              <a:rPr lang="en-US" sz="1300" spc="110" dirty="0" smtClean="0"/>
              <a:t> </a:t>
            </a:r>
            <a:r>
              <a:rPr lang="en-US" sz="1300" b="0" spc="110" dirty="0" smtClean="0"/>
              <a:t>Detects </a:t>
            </a:r>
            <a:r>
              <a:rPr lang="en-US" sz="1300" b="0" spc="110" dirty="0" smtClean="0"/>
              <a:t>real learning gaps in students, not just exam scores.</a:t>
            </a:r>
          </a:p>
          <a:p>
            <a:pPr marL="252095" indent="-239395">
              <a:lnSpc>
                <a:spcPct val="100000"/>
              </a:lnSpc>
              <a:spcBef>
                <a:spcPts val="125"/>
              </a:spcBef>
              <a:buFont typeface="Arial" pitchFamily="34" charset="0"/>
              <a:buChar char="•"/>
              <a:tabLst>
                <a:tab pos="252095" algn="l"/>
              </a:tabLst>
            </a:pPr>
            <a:r>
              <a:rPr lang="en-US" sz="1300" b="0" spc="110" dirty="0" smtClean="0"/>
              <a:t>Provides personalized learning support even in low-resource areas.</a:t>
            </a:r>
          </a:p>
          <a:p>
            <a:pPr marL="252095" indent="-239395">
              <a:lnSpc>
                <a:spcPct val="100000"/>
              </a:lnSpc>
              <a:spcBef>
                <a:spcPts val="125"/>
              </a:spcBef>
              <a:buFont typeface="Arial" pitchFamily="34" charset="0"/>
              <a:buChar char="•"/>
              <a:tabLst>
                <a:tab pos="252095" algn="l"/>
              </a:tabLst>
            </a:pPr>
            <a:r>
              <a:rPr lang="en-US" sz="1300" b="0" spc="110" dirty="0" smtClean="0"/>
              <a:t>Reduces dependency on teachers for continuous monitoring</a:t>
            </a:r>
            <a:r>
              <a:rPr lang="en-US" sz="1300" b="0" spc="110" dirty="0" smtClean="0"/>
              <a:t>.</a:t>
            </a:r>
          </a:p>
          <a:p>
            <a:pPr marL="252095" indent="-239395">
              <a:lnSpc>
                <a:spcPct val="100000"/>
              </a:lnSpc>
              <a:spcBef>
                <a:spcPts val="125"/>
              </a:spcBef>
              <a:buFont typeface="Arial" pitchFamily="34" charset="0"/>
              <a:buChar char="•"/>
              <a:tabLst>
                <a:tab pos="252095" algn="l"/>
              </a:tabLst>
            </a:pPr>
            <a:endParaRPr sz="1300" b="0" spc="110" dirty="0"/>
          </a:p>
          <a:p>
            <a:pPr marL="252095" indent="-239395">
              <a:lnSpc>
                <a:spcPct val="100000"/>
              </a:lnSpc>
              <a:spcBef>
                <a:spcPts val="30"/>
              </a:spcBef>
              <a:tabLst>
                <a:tab pos="252095" algn="l"/>
              </a:tabLst>
            </a:pPr>
            <a:r>
              <a:rPr lang="en-US" sz="1300" i="0" spc="11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sz="1300" i="0" spc="11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How</a:t>
            </a:r>
            <a:r>
              <a:rPr sz="1300" i="0" spc="15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4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will</a:t>
            </a:r>
            <a:r>
              <a:rPr sz="1300" i="0" spc="2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14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you</a:t>
            </a:r>
            <a:r>
              <a:rPr sz="1300" i="0" spc="2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2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measure</a:t>
            </a:r>
            <a:r>
              <a:rPr sz="1300" i="0" spc="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6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it</a:t>
            </a:r>
            <a:r>
              <a:rPr sz="1300" i="0" spc="6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?</a:t>
            </a:r>
            <a:endParaRPr lang="en-US" sz="1300" i="0" spc="6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52095" indent="-239395">
              <a:lnSpc>
                <a:spcPct val="100000"/>
              </a:lnSpc>
              <a:spcBef>
                <a:spcPts val="30"/>
              </a:spcBef>
              <a:tabLst>
                <a:tab pos="252095" algn="l"/>
              </a:tabLst>
            </a:pPr>
            <a:r>
              <a:rPr sz="1300" smtClean="0"/>
              <a:t>-</a:t>
            </a:r>
            <a:r>
              <a:rPr sz="1300" spc="65" smtClean="0"/>
              <a:t>%</a:t>
            </a:r>
            <a:r>
              <a:rPr sz="1300" spc="30" smtClean="0"/>
              <a:t> </a:t>
            </a:r>
            <a:r>
              <a:rPr sz="1300" spc="125" smtClean="0"/>
              <a:t>reduction</a:t>
            </a:r>
            <a:r>
              <a:rPr lang="en-US" sz="1300" spc="125" dirty="0" smtClean="0"/>
              <a:t>: </a:t>
            </a:r>
            <a:r>
              <a:rPr lang="en-US" sz="1300" b="0" spc="125" dirty="0" smtClean="0"/>
              <a:t>Up to 50% reduction in learning gaps through personalized AI </a:t>
            </a:r>
            <a:r>
              <a:rPr lang="en-US" sz="1300" b="0" spc="125" dirty="0" smtClean="0"/>
              <a:t>support.</a:t>
            </a:r>
            <a:endParaRPr lang="en-US" sz="1300" b="0" spc="125" dirty="0" smtClean="0"/>
          </a:p>
          <a:p>
            <a:pPr marL="252095" indent="-239395">
              <a:lnSpc>
                <a:spcPct val="100000"/>
              </a:lnSpc>
              <a:spcBef>
                <a:spcPts val="30"/>
              </a:spcBef>
              <a:tabLst>
                <a:tab pos="252095" algn="l"/>
              </a:tabLst>
            </a:pPr>
            <a:r>
              <a:rPr sz="1300" spc="55" smtClean="0"/>
              <a:t>-</a:t>
            </a:r>
            <a:r>
              <a:rPr sz="1300" spc="90" smtClean="0"/>
              <a:t>Time</a:t>
            </a:r>
            <a:r>
              <a:rPr sz="1300" spc="10" smtClean="0"/>
              <a:t> </a:t>
            </a:r>
            <a:r>
              <a:rPr sz="1300" spc="100" smtClean="0"/>
              <a:t>saved</a:t>
            </a:r>
            <a:r>
              <a:rPr lang="en-US" sz="1300" spc="100" dirty="0" smtClean="0"/>
              <a:t>: </a:t>
            </a:r>
            <a:r>
              <a:rPr lang="en-US" sz="1300" b="0" spc="100" dirty="0" smtClean="0"/>
              <a:t>Saves 30–50% of teacher time in monitoring and evaluation.</a:t>
            </a:r>
            <a:endParaRPr lang="en-US" sz="1300" b="0" spc="100" dirty="0" smtClean="0"/>
          </a:p>
          <a:p>
            <a:pPr marL="252095" indent="-239395">
              <a:lnSpc>
                <a:spcPct val="100000"/>
              </a:lnSpc>
              <a:spcBef>
                <a:spcPts val="30"/>
              </a:spcBef>
              <a:tabLst>
                <a:tab pos="252095" algn="l"/>
              </a:tabLst>
            </a:pPr>
            <a:r>
              <a:rPr sz="1300" spc="55" smtClean="0"/>
              <a:t>-</a:t>
            </a:r>
            <a:r>
              <a:rPr sz="1300" spc="80"/>
              <a:t>Cost</a:t>
            </a:r>
            <a:r>
              <a:rPr sz="1300" spc="5"/>
              <a:t> </a:t>
            </a:r>
            <a:r>
              <a:rPr sz="1300" spc="110" smtClean="0"/>
              <a:t>saved</a:t>
            </a:r>
            <a:r>
              <a:rPr lang="en-US" sz="1300" spc="110" dirty="0" smtClean="0"/>
              <a:t> : </a:t>
            </a:r>
            <a:r>
              <a:rPr lang="en-US" sz="1300" b="0" spc="110" dirty="0" smtClean="0"/>
              <a:t>Reduces education costs by minimizing need for private tuition</a:t>
            </a:r>
            <a:r>
              <a:rPr lang="en-US" sz="1300" b="0" spc="110" dirty="0" smtClean="0"/>
              <a:t>.</a:t>
            </a:r>
          </a:p>
          <a:p>
            <a:pPr marL="252095" indent="-239395">
              <a:lnSpc>
                <a:spcPct val="100000"/>
              </a:lnSpc>
              <a:spcBef>
                <a:spcPts val="30"/>
              </a:spcBef>
              <a:tabLst>
                <a:tab pos="252095" algn="l"/>
              </a:tabLst>
            </a:pPr>
            <a:endParaRPr sz="1300" b="0" spc="110" dirty="0"/>
          </a:p>
          <a:p>
            <a:pPr marL="252095" indent="-239395">
              <a:lnSpc>
                <a:spcPct val="100000"/>
              </a:lnSpc>
              <a:spcBef>
                <a:spcPts val="30"/>
              </a:spcBef>
              <a:buAutoNum type="arabicPeriod" startAt="3"/>
              <a:tabLst>
                <a:tab pos="252095" algn="l"/>
              </a:tabLst>
            </a:pPr>
            <a:r>
              <a:rPr sz="1300" i="0" spc="13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Impact</a:t>
            </a:r>
            <a:r>
              <a:rPr sz="1300" i="0"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14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Level:</a:t>
            </a:r>
            <a:r>
              <a:rPr sz="1300" i="0" spc="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6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Local</a:t>
            </a:r>
            <a:r>
              <a:rPr sz="1300" i="0" spc="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-34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sz="1300" i="0" spc="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25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City</a:t>
            </a:r>
            <a:r>
              <a:rPr sz="1300" i="0" spc="15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-34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sz="1300" i="0" spc="15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25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National</a:t>
            </a:r>
            <a:endParaRPr lang="en-US" sz="1300" i="0" spc="125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52095" indent="-239395">
              <a:lnSpc>
                <a:spcPct val="100000"/>
              </a:lnSpc>
              <a:spcBef>
                <a:spcPts val="30"/>
              </a:spcBef>
              <a:buFont typeface="Arial" pitchFamily="34" charset="0"/>
              <a:buChar char="•"/>
              <a:tabLst>
                <a:tab pos="252095" algn="l"/>
              </a:tabLst>
            </a:pPr>
            <a:r>
              <a:rPr lang="en-US" sz="1300" b="0" spc="125" dirty="0" smtClean="0"/>
              <a:t>Helps </a:t>
            </a:r>
            <a:r>
              <a:rPr lang="en-US" sz="1300" b="0" spc="125" dirty="0" smtClean="0"/>
              <a:t>individual classrooms at local level.</a:t>
            </a:r>
          </a:p>
          <a:p>
            <a:pPr marL="252095" indent="-239395">
              <a:lnSpc>
                <a:spcPct val="100000"/>
              </a:lnSpc>
              <a:spcBef>
                <a:spcPts val="30"/>
              </a:spcBef>
              <a:buFont typeface="Arial" pitchFamily="34" charset="0"/>
              <a:buChar char="•"/>
              <a:tabLst>
                <a:tab pos="252095" algn="l"/>
              </a:tabLst>
            </a:pPr>
            <a:r>
              <a:rPr lang="en-US" sz="1300" b="0" spc="125" dirty="0" smtClean="0"/>
              <a:t>Can be adopted by schools across cities and states.</a:t>
            </a:r>
          </a:p>
          <a:p>
            <a:pPr marL="252095" indent="-239395">
              <a:lnSpc>
                <a:spcPct val="100000"/>
              </a:lnSpc>
              <a:spcBef>
                <a:spcPts val="30"/>
              </a:spcBef>
              <a:buFont typeface="Arial" pitchFamily="34" charset="0"/>
              <a:buChar char="•"/>
              <a:tabLst>
                <a:tab pos="252095" algn="l"/>
              </a:tabLst>
            </a:pPr>
            <a:r>
              <a:rPr lang="en-US" sz="1300" b="0" spc="125" dirty="0" smtClean="0"/>
              <a:t>Scales nationally for government and education programs</a:t>
            </a:r>
            <a:r>
              <a:rPr lang="en-US" sz="1300" b="0" spc="125" dirty="0" smtClean="0"/>
              <a:t>.</a:t>
            </a:r>
          </a:p>
          <a:p>
            <a:pPr marL="252095" indent="-239395">
              <a:lnSpc>
                <a:spcPct val="100000"/>
              </a:lnSpc>
              <a:spcBef>
                <a:spcPts val="30"/>
              </a:spcBef>
              <a:buFont typeface="Arial" pitchFamily="34" charset="0"/>
              <a:buChar char="•"/>
              <a:tabLst>
                <a:tab pos="252095" algn="l"/>
              </a:tabLst>
            </a:pPr>
            <a:endParaRPr sz="1300" b="0" spc="125" dirty="0"/>
          </a:p>
          <a:p>
            <a:pPr marL="252095" indent="-239395">
              <a:lnSpc>
                <a:spcPct val="100000"/>
              </a:lnSpc>
              <a:spcBef>
                <a:spcPts val="35"/>
              </a:spcBef>
              <a:tabLst>
                <a:tab pos="252095" algn="l"/>
              </a:tabLst>
            </a:pPr>
            <a:r>
              <a:rPr lang="en-US" sz="1300" i="0" spc="105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4. </a:t>
            </a:r>
            <a:r>
              <a:rPr sz="1300" i="0" spc="105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Long-</a:t>
            </a:r>
            <a:r>
              <a:rPr sz="1300" i="0" spc="114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term</a:t>
            </a:r>
            <a:r>
              <a:rPr sz="1300" i="0" spc="1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2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Vision:</a:t>
            </a:r>
            <a:r>
              <a:rPr sz="1300" i="0"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-</a:t>
            </a:r>
            <a:r>
              <a:rPr sz="1300" i="0"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What</a:t>
            </a:r>
            <a:r>
              <a:rPr sz="1300" i="0" spc="1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14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happens</a:t>
            </a:r>
            <a:r>
              <a:rPr sz="1300" i="0"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5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if</a:t>
            </a:r>
            <a:r>
              <a:rPr sz="1300" i="0"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35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this</a:t>
            </a:r>
            <a:r>
              <a:rPr sz="1300" i="0" spc="1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sz="1300" i="0" spc="1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scales</a:t>
            </a:r>
            <a:r>
              <a:rPr sz="1300" i="0" spc="10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?</a:t>
            </a:r>
            <a:endParaRPr lang="en-US" sz="1300" i="0" spc="100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52095" indent="-239395">
              <a:lnSpc>
                <a:spcPct val="100000"/>
              </a:lnSpc>
              <a:spcBef>
                <a:spcPts val="35"/>
              </a:spcBef>
              <a:buFont typeface="Arial" pitchFamily="34" charset="0"/>
              <a:buChar char="•"/>
              <a:tabLst>
                <a:tab pos="252095" algn="l"/>
              </a:tabLst>
            </a:pPr>
            <a:r>
              <a:rPr lang="en-US" sz="1300" b="0" spc="100" dirty="0" smtClean="0"/>
              <a:t>Every student gets personalized learning support.</a:t>
            </a:r>
          </a:p>
          <a:p>
            <a:pPr marL="252095" indent="-239395">
              <a:lnSpc>
                <a:spcPct val="100000"/>
              </a:lnSpc>
              <a:spcBef>
                <a:spcPts val="35"/>
              </a:spcBef>
              <a:buFont typeface="Arial" pitchFamily="34" charset="0"/>
              <a:buChar char="•"/>
              <a:tabLst>
                <a:tab pos="252095" algn="l"/>
              </a:tabLst>
            </a:pPr>
            <a:r>
              <a:rPr lang="en-US" sz="1300" b="0" spc="100" dirty="0" smtClean="0"/>
              <a:t>Strong foundation learning across all regions.</a:t>
            </a:r>
          </a:p>
          <a:p>
            <a:pPr marL="252095" indent="-239395">
              <a:lnSpc>
                <a:spcPct val="100000"/>
              </a:lnSpc>
              <a:spcBef>
                <a:spcPts val="35"/>
              </a:spcBef>
              <a:buFont typeface="Arial" pitchFamily="34" charset="0"/>
              <a:buChar char="•"/>
              <a:tabLst>
                <a:tab pos="252095" algn="l"/>
              </a:tabLst>
            </a:pPr>
            <a:r>
              <a:rPr lang="en-US" sz="1300" b="0" spc="100" dirty="0" smtClean="0"/>
              <a:t>Reduces education inequality and improves national literacy.</a:t>
            </a:r>
            <a:endParaRPr sz="1300" b="0" spc="10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2582" y="146071"/>
            <a:ext cx="4000818" cy="3706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smtClean="0"/>
              <a:t>Team</a:t>
            </a:r>
            <a:r>
              <a:rPr lang="en-US" spc="-20" dirty="0" smtClean="0"/>
              <a:t> SHADOW NETWORK</a:t>
            </a:r>
            <a:endParaRPr spc="-20" dirty="0"/>
          </a:p>
        </p:txBody>
      </p:sp>
      <p:sp>
        <p:nvSpPr>
          <p:cNvPr id="3" name="object 3"/>
          <p:cNvSpPr/>
          <p:nvPr/>
        </p:nvSpPr>
        <p:spPr>
          <a:xfrm>
            <a:off x="485456" y="4652234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1938" y="208114"/>
            <a:ext cx="2049526" cy="4702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85458" y="775559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24200" y="819151"/>
            <a:ext cx="441960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b="1" spc="-50" dirty="0" smtClean="0">
                <a:solidFill>
                  <a:srgbClr val="1F1A17"/>
                </a:solidFill>
                <a:latin typeface="Arial Black" pitchFamily="34" charset="0"/>
                <a:cs typeface="Times New Roman" pitchFamily="18" charset="0"/>
              </a:rPr>
              <a:t>Teacher Dashboard</a:t>
            </a:r>
            <a:endParaRPr sz="2000"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pic>
        <p:nvPicPr>
          <p:cNvPr id="9" name="Picture 8" descr="dash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400" y="1352550"/>
            <a:ext cx="4495800" cy="2286000"/>
          </a:xfrm>
          <a:prstGeom prst="roundRect">
            <a:avLst>
              <a:gd name="adj" fmla="val 8594"/>
            </a:avLst>
          </a:prstGeom>
          <a:solidFill>
            <a:schemeClr val="tx1"/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 descr="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00600" y="2495550"/>
            <a:ext cx="4267200" cy="2090247"/>
          </a:xfrm>
          <a:prstGeom prst="roundRect">
            <a:avLst>
              <a:gd name="adj" fmla="val 8594"/>
            </a:avLst>
          </a:prstGeom>
          <a:solidFill>
            <a:schemeClr val="tx1"/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Rectangle 19"/>
          <p:cNvSpPr/>
          <p:nvPr/>
        </p:nvSpPr>
        <p:spPr>
          <a:xfrm>
            <a:off x="5029200" y="1581150"/>
            <a:ext cx="36897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DASHBOARD OVERVIEW</a:t>
            </a:r>
            <a:endParaRPr lang="en-US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3401" y="3864412"/>
            <a:ext cx="350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pitchFamily="34" charset="0"/>
              </a:rPr>
              <a:t>STUDENT ROASTER</a:t>
            </a:r>
            <a:endParaRPr lang="en-US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2582" y="146071"/>
            <a:ext cx="4000818" cy="3706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smtClean="0"/>
              <a:t>Team</a:t>
            </a:r>
            <a:r>
              <a:rPr lang="en-US" spc="-20" dirty="0" smtClean="0"/>
              <a:t> SHADOW NETWORK</a:t>
            </a:r>
            <a:endParaRPr spc="-20" dirty="0"/>
          </a:p>
        </p:txBody>
      </p:sp>
      <p:sp>
        <p:nvSpPr>
          <p:cNvPr id="3" name="object 3"/>
          <p:cNvSpPr/>
          <p:nvPr/>
        </p:nvSpPr>
        <p:spPr>
          <a:xfrm>
            <a:off x="485456" y="4652234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1938" y="208114"/>
            <a:ext cx="2049526" cy="4702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85458" y="775559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pic>
        <p:nvPicPr>
          <p:cNvPr id="9" name="Picture 8" descr="dash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9800" y="2038350"/>
            <a:ext cx="4306957" cy="1905000"/>
          </a:xfrm>
          <a:prstGeom prst="roundRect">
            <a:avLst>
              <a:gd name="adj" fmla="val 8594"/>
            </a:avLst>
          </a:prstGeom>
          <a:solidFill>
            <a:schemeClr val="tx1"/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Rectangle 19"/>
          <p:cNvSpPr/>
          <p:nvPr/>
        </p:nvSpPr>
        <p:spPr>
          <a:xfrm>
            <a:off x="2514600" y="1047750"/>
            <a:ext cx="62043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latin typeface="Arial Rounded MT Bold" pitchFamily="34" charset="0"/>
              </a:rPr>
              <a:t>ADDING NEW  MODULES</a:t>
            </a:r>
            <a:endParaRPr lang="en-US" sz="20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2582" y="146071"/>
            <a:ext cx="4000818" cy="3706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smtClean="0"/>
              <a:t>Team</a:t>
            </a:r>
            <a:r>
              <a:rPr lang="en-US" spc="-20" dirty="0" smtClean="0"/>
              <a:t> SHADOW NETWORK</a:t>
            </a:r>
            <a:endParaRPr spc="-20" dirty="0"/>
          </a:p>
        </p:txBody>
      </p:sp>
      <p:sp>
        <p:nvSpPr>
          <p:cNvPr id="3" name="object 3"/>
          <p:cNvSpPr/>
          <p:nvPr/>
        </p:nvSpPr>
        <p:spPr>
          <a:xfrm>
            <a:off x="485456" y="4652234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1938" y="208114"/>
            <a:ext cx="2049526" cy="4702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85458" y="775559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6651" y="895350"/>
            <a:ext cx="25506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dirty="0" smtClean="0">
                <a:latin typeface="Arial Black" pitchFamily="34" charset="0"/>
                <a:cs typeface="Times New Roman" pitchFamily="18" charset="0"/>
              </a:rPr>
              <a:t>STUDENT PANEL</a:t>
            </a:r>
            <a:endParaRPr lang="en-US" dirty="0">
              <a:latin typeface="Arial Black" pitchFamily="34" charset="0"/>
              <a:cs typeface="Times New Roman" pitchFamily="18" charset="0"/>
            </a:endParaRPr>
          </a:p>
        </p:txBody>
      </p:sp>
      <p:pic>
        <p:nvPicPr>
          <p:cNvPr id="11" name="Picture 10" descr="WhatsApp Image 2026-04-30 at 6.25.13 AM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971550"/>
            <a:ext cx="1752600" cy="3505200"/>
          </a:xfrm>
          <a:prstGeom prst="rect">
            <a:avLst/>
          </a:prstGeom>
        </p:spPr>
      </p:pic>
      <p:pic>
        <p:nvPicPr>
          <p:cNvPr id="12" name="Picture 11" descr="WhatsApp Image 2026-04-30 at 6.10.31 AM.jpe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67000" y="1326565"/>
            <a:ext cx="1600200" cy="3226385"/>
          </a:xfrm>
          <a:prstGeom prst="rect">
            <a:avLst/>
          </a:prstGeom>
        </p:spPr>
      </p:pic>
      <p:pic>
        <p:nvPicPr>
          <p:cNvPr id="13" name="Picture 12" descr="WhatsApp Image 2026-04-30 at 6.10.29 AM.jpe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876800" y="1352550"/>
            <a:ext cx="1717288" cy="3276600"/>
          </a:xfrm>
          <a:prstGeom prst="rect">
            <a:avLst/>
          </a:prstGeom>
        </p:spPr>
      </p:pic>
      <p:pic>
        <p:nvPicPr>
          <p:cNvPr id="14" name="Picture 13" descr="WhatsApp Image 2026-04-30 at 6.10.30 AM.jpe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934200" y="1352550"/>
            <a:ext cx="1828800" cy="32600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2582" y="146071"/>
            <a:ext cx="4000818" cy="3706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smtClean="0"/>
              <a:t>Team</a:t>
            </a:r>
            <a:r>
              <a:rPr lang="en-US" spc="-20" dirty="0" smtClean="0"/>
              <a:t> SHADOW NETWORK</a:t>
            </a:r>
            <a:endParaRPr spc="-20" dirty="0"/>
          </a:p>
        </p:txBody>
      </p:sp>
      <p:sp>
        <p:nvSpPr>
          <p:cNvPr id="3" name="object 3"/>
          <p:cNvSpPr/>
          <p:nvPr/>
        </p:nvSpPr>
        <p:spPr>
          <a:xfrm>
            <a:off x="485456" y="4652234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1938" y="208114"/>
            <a:ext cx="2049526" cy="4702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85458" y="775559"/>
            <a:ext cx="8086725" cy="0"/>
          </a:xfrm>
          <a:custGeom>
            <a:avLst/>
            <a:gdLst/>
            <a:ahLst/>
            <a:cxnLst/>
            <a:rect l="l" t="t" r="r" b="b"/>
            <a:pathLst>
              <a:path w="8086725">
                <a:moveTo>
                  <a:pt x="0" y="0"/>
                </a:moveTo>
                <a:lnTo>
                  <a:pt x="8086712" y="0"/>
                </a:lnTo>
              </a:path>
            </a:pathLst>
          </a:custGeom>
          <a:ln w="27419">
            <a:solidFill>
              <a:srgbClr val="44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/>
              <a:t>©Copyright-Srishti2026</a:t>
            </a:r>
            <a:r>
              <a:rPr spc="100" dirty="0"/>
              <a:t> </a:t>
            </a:r>
            <a:r>
              <a:rPr dirty="0"/>
              <a:t>-Not</a:t>
            </a:r>
            <a:r>
              <a:rPr spc="95" dirty="0"/>
              <a:t> </a:t>
            </a:r>
            <a:r>
              <a:rPr dirty="0"/>
              <a:t>to</a:t>
            </a:r>
            <a:r>
              <a:rPr spc="105" dirty="0"/>
              <a:t> </a:t>
            </a:r>
            <a:r>
              <a:rPr dirty="0"/>
              <a:t>be</a:t>
            </a:r>
            <a:r>
              <a:rPr spc="95" dirty="0"/>
              <a:t> </a:t>
            </a:r>
            <a:r>
              <a:rPr dirty="0"/>
              <a:t>reproduced</a:t>
            </a:r>
            <a:r>
              <a:rPr spc="95" dirty="0"/>
              <a:t> </a:t>
            </a:r>
            <a:r>
              <a:rPr dirty="0"/>
              <a:t>without</a:t>
            </a:r>
            <a:r>
              <a:rPr spc="100" dirty="0"/>
              <a:t> </a:t>
            </a:r>
            <a:r>
              <a:rPr dirty="0"/>
              <a:t>permission</a:t>
            </a:r>
            <a:r>
              <a:rPr spc="95" dirty="0"/>
              <a:t> </a:t>
            </a:r>
            <a:r>
              <a:rPr dirty="0"/>
              <a:t>from</a:t>
            </a:r>
            <a:r>
              <a:rPr spc="95" dirty="0"/>
              <a:t> </a:t>
            </a:r>
            <a:r>
              <a:rPr spc="-10" dirty="0"/>
              <a:t>author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6651" y="895350"/>
            <a:ext cx="25506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dirty="0" smtClean="0">
                <a:latin typeface="Arial Black" pitchFamily="34" charset="0"/>
                <a:cs typeface="Times New Roman" pitchFamily="18" charset="0"/>
              </a:rPr>
              <a:t>STUDENT PANEL</a:t>
            </a:r>
            <a:endParaRPr lang="en-US" dirty="0">
              <a:latin typeface="Arial Black" pitchFamily="34" charset="0"/>
              <a:cs typeface="Times New Roman" pitchFamily="18" charset="0"/>
            </a:endParaRPr>
          </a:p>
        </p:txBody>
      </p:sp>
      <p:pic>
        <p:nvPicPr>
          <p:cNvPr id="15" name="Picture 14" descr="WhatsApp Image 2026-04-30 at 6.10.30 AM (2)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1276350"/>
            <a:ext cx="1752600" cy="3181350"/>
          </a:xfrm>
          <a:prstGeom prst="rect">
            <a:avLst/>
          </a:prstGeom>
        </p:spPr>
      </p:pic>
      <p:pic>
        <p:nvPicPr>
          <p:cNvPr id="16" name="Picture 15" descr="WhatsApp Image 2026-04-30 at 6.10.30 AM (1).jpe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95038" y="1276350"/>
            <a:ext cx="1848362" cy="3181350"/>
          </a:xfrm>
          <a:prstGeom prst="rect">
            <a:avLst/>
          </a:prstGeom>
        </p:spPr>
      </p:pic>
      <p:pic>
        <p:nvPicPr>
          <p:cNvPr id="18" name="Picture 17" descr="WhatsApp Image 2026-04-30 at 6.33.06 AM.jpe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19600" y="1276350"/>
            <a:ext cx="1757116" cy="3239202"/>
          </a:xfrm>
          <a:prstGeom prst="rect">
            <a:avLst/>
          </a:prstGeom>
        </p:spPr>
      </p:pic>
      <p:pic>
        <p:nvPicPr>
          <p:cNvPr id="19" name="Picture 18" descr="WhatsApp Image 2026-04-30 at 6.3SSSS3.06 AM.jpe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400800" y="1276350"/>
            <a:ext cx="1862398" cy="31948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Words>892</Words>
  <Application>Microsoft Office PowerPoint</Application>
  <PresentationFormat>On-screen Show (16:9)</PresentationFormat>
  <Paragraphs>143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EDUBRIDGE AI</vt:lpstr>
      <vt:lpstr>Problem</vt:lpstr>
      <vt:lpstr>Solution</vt:lpstr>
      <vt:lpstr>Product</vt:lpstr>
      <vt:lpstr>Startup Potential</vt:lpstr>
      <vt:lpstr>Social Economic Impact of the Product</vt:lpstr>
      <vt:lpstr>Team SHADOW NETWORK</vt:lpstr>
      <vt:lpstr>Team SHADOW NETWORK</vt:lpstr>
      <vt:lpstr>Team SHADOW NETWORK</vt:lpstr>
      <vt:lpstr>Team SHADOW NETWORK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Name</dc:title>
  <dc:creator>ADMIN</dc:creator>
  <cp:lastModifiedBy>ADMIN</cp:lastModifiedBy>
  <cp:revision>36</cp:revision>
  <dcterms:created xsi:type="dcterms:W3CDTF">2026-04-29T18:40:07Z</dcterms:created>
  <dcterms:modified xsi:type="dcterms:W3CDTF">2026-04-30T02:18:49Z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2026-04-29T00:00:00Z</vt:filetime>
  </property>
  <property fmtid="{D5CDD505-2E9C-101B-9397-08002B2CF9AE}" pid="4" name="CreationClient">
    <vt:lpwstr>hz-json-import</vt:lpwstr>
  </property>
  <property fmtid="{D5CDD505-2E9C-101B-9397-08002B2CF9AE}" pid="5" name="Creator">
    <vt:lpwstr>Adobe Express</vt:lpwstr>
  </property>
  <property fmtid="{D5CDD505-2E9C-101B-9397-08002B2CF9AE}" pid="6" name="LastSaved">
    <vt:filetime>2026-04-29T00:00:00Z</vt:filetime>
  </property>
  <property fmtid="{D5CDD505-2E9C-101B-9397-08002B2CF9AE}" pid="7" name="Producer">
    <vt:lpwstr>Adobe Express</vt:lpwstr>
  </property>
</Properties>
</file>